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2" r:id="rId7"/>
    <p:sldId id="263" r:id="rId8"/>
    <p:sldId id="269" r:id="rId9"/>
    <p:sldId id="264" r:id="rId10"/>
    <p:sldId id="265" r:id="rId11"/>
    <p:sldId id="268" r:id="rId12"/>
    <p:sldId id="259" r:id="rId13"/>
    <p:sldId id="267"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5" d="100"/>
          <a:sy n="85" d="100"/>
        </p:scale>
        <p:origin x="-1282" y="-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86200" y="381000"/>
            <a:ext cx="5257800" cy="1219199"/>
          </a:xfrm>
        </p:spPr>
        <p:txBody>
          <a:bodyPr>
            <a:normAutofit fontScale="90000"/>
          </a:bodyPr>
          <a:lstStyle/>
          <a:p>
            <a:r>
              <a:rPr lang="en-US" sz="3600" b="1" dirty="0"/>
              <a:t>Connecticut Property Sales Dashboard (1999-2023)</a:t>
            </a:r>
            <a:r>
              <a:rPr lang="en-US" sz="3600" b="1" dirty="0" smtClean="0"/>
              <a:t>: </a:t>
            </a:r>
            <a:br>
              <a:rPr lang="en-US" sz="3600" b="1" dirty="0" smtClean="0"/>
            </a:br>
            <a:r>
              <a:rPr lang="en-US" sz="3600" b="1" dirty="0" smtClean="0"/>
              <a:t>A </a:t>
            </a:r>
            <a:r>
              <a:rPr lang="en-US" sz="3600" b="1" dirty="0"/>
              <a:t>Tableau </a:t>
            </a:r>
            <a:r>
              <a:rPr lang="en-US" sz="3600" b="1" dirty="0" smtClean="0"/>
              <a:t>Visualization</a:t>
            </a:r>
            <a:endParaRPr lang="en-US" sz="3600" dirty="0"/>
          </a:p>
        </p:txBody>
      </p:sp>
      <p:sp>
        <p:nvSpPr>
          <p:cNvPr id="4" name="Rectangle 3"/>
          <p:cNvSpPr/>
          <p:nvPr/>
        </p:nvSpPr>
        <p:spPr>
          <a:xfrm>
            <a:off x="3886200" y="5562600"/>
            <a:ext cx="5257800" cy="784830"/>
          </a:xfrm>
          <a:prstGeom prst="rect">
            <a:avLst/>
          </a:prstGeom>
        </p:spPr>
        <p:txBody>
          <a:bodyPr wrap="square">
            <a:spAutoFit/>
          </a:bodyPr>
          <a:lstStyle/>
          <a:p>
            <a:pPr algn="ctr"/>
            <a:r>
              <a:rPr lang="en-US" sz="1500" b="1" dirty="0"/>
              <a:t>Northeastern University: College of Professional Studies</a:t>
            </a:r>
            <a:endParaRPr lang="en-US" sz="1500" dirty="0"/>
          </a:p>
          <a:p>
            <a:pPr algn="ctr"/>
            <a:r>
              <a:rPr lang="en-US" sz="1500" b="1" dirty="0"/>
              <a:t>ALY 6070: Communication and Visualization for Data Analytics</a:t>
            </a:r>
            <a:endParaRPr lang="en-US" sz="1500" dirty="0"/>
          </a:p>
          <a:p>
            <a:pPr algn="ctr"/>
            <a:r>
              <a:rPr lang="en-US" sz="1500" b="1" dirty="0" smtClean="0"/>
              <a:t>11</a:t>
            </a:r>
            <a:r>
              <a:rPr lang="en-US" sz="1500" b="1" baseline="30000" dirty="0" smtClean="0"/>
              <a:t>th</a:t>
            </a:r>
            <a:r>
              <a:rPr lang="en-US" sz="1500" b="1" dirty="0" smtClean="0"/>
              <a:t> February, </a:t>
            </a:r>
            <a:r>
              <a:rPr lang="en-US" sz="1500" b="1" dirty="0"/>
              <a:t>2025</a:t>
            </a:r>
            <a:endParaRPr lang="en-US" sz="1500" dirty="0"/>
          </a:p>
        </p:txBody>
      </p:sp>
      <p:pic>
        <p:nvPicPr>
          <p:cNvPr id="5" name="Picture 4"/>
          <p:cNvPicPr/>
          <p:nvPr/>
        </p:nvPicPr>
        <p:blipFill>
          <a:blip r:embed="rId2"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5285105" y="1905000"/>
            <a:ext cx="2459990" cy="2459990"/>
          </a:xfrm>
          <a:prstGeom prst="rect">
            <a:avLst/>
          </a:prstGeom>
        </p:spPr>
      </p:pic>
      <p:sp>
        <p:nvSpPr>
          <p:cNvPr id="6" name="Rectangle 5"/>
          <p:cNvSpPr/>
          <p:nvPr/>
        </p:nvSpPr>
        <p:spPr>
          <a:xfrm>
            <a:off x="3886200" y="4648199"/>
            <a:ext cx="5257800" cy="646331"/>
          </a:xfrm>
          <a:prstGeom prst="rect">
            <a:avLst/>
          </a:prstGeom>
        </p:spPr>
        <p:txBody>
          <a:bodyPr wrap="square">
            <a:spAutoFit/>
          </a:bodyPr>
          <a:lstStyle/>
          <a:p>
            <a:pPr algn="ctr"/>
            <a:r>
              <a:rPr lang="en-US" b="1" dirty="0"/>
              <a:t>Professor: Jack </a:t>
            </a:r>
            <a:r>
              <a:rPr lang="en-US" b="1" dirty="0" err="1"/>
              <a:t>Bergersen</a:t>
            </a:r>
            <a:endParaRPr lang="en-US" dirty="0"/>
          </a:p>
          <a:p>
            <a:pPr algn="ctr"/>
            <a:r>
              <a:rPr lang="en-US" b="1" dirty="0"/>
              <a:t>Submitted by:</a:t>
            </a:r>
            <a:r>
              <a:rPr lang="en-US" dirty="0"/>
              <a:t> Kumar </a:t>
            </a:r>
            <a:r>
              <a:rPr lang="en-US" dirty="0" err="1"/>
              <a:t>Saransh</a:t>
            </a:r>
            <a:r>
              <a:rPr lang="en-US" dirty="0"/>
              <a:t>                                                </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4" y="4011"/>
            <a:ext cx="3809576" cy="6858000"/>
          </a:xfrm>
          <a:prstGeom prst="rect">
            <a:avLst/>
          </a:prstGeom>
        </p:spPr>
      </p:pic>
    </p:spTree>
    <p:extLst>
      <p:ext uri="{BB962C8B-B14F-4D97-AF65-F5344CB8AC3E}">
        <p14:creationId xmlns:p14="http://schemas.microsoft.com/office/powerpoint/2010/main" val="7637369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2821" y="491237"/>
            <a:ext cx="8534400" cy="1723549"/>
          </a:xfrm>
          <a:prstGeom prst="rect">
            <a:avLst/>
          </a:prstGeom>
        </p:spPr>
        <p:txBody>
          <a:bodyPr wrap="square">
            <a:spAutoFit/>
          </a:bodyPr>
          <a:lstStyle/>
          <a:p>
            <a:r>
              <a:rPr lang="en-US" b="1" dirty="0"/>
              <a:t>Abstract</a:t>
            </a:r>
            <a:endParaRPr lang="en-US" dirty="0"/>
          </a:p>
          <a:p>
            <a:endParaRPr lang="en-US" sz="1400" dirty="0" smtClean="0"/>
          </a:p>
          <a:p>
            <a:pPr algn="just"/>
            <a:r>
              <a:rPr lang="en-US" sz="1400" dirty="0" smtClean="0"/>
              <a:t>This </a:t>
            </a:r>
            <a:r>
              <a:rPr lang="en-US" sz="1400" dirty="0"/>
              <a:t>project analyzes real estate sales data from 2001 to 2022, providing insights into property transactions across various towns. The study aims to uncover trends in property sales, price variations, and assessment accuracy using data visualization techniques in Tableau. Through interactive dashboards, we will explore the relationship between assessed values and sale prices, geographical sales distribution, and property type preferences. The findings will assist real estate investors, policymakers, and buyers in making informed decisions</a:t>
            </a:r>
            <a:r>
              <a:rPr lang="en-US" sz="1400" dirty="0" smtClean="0"/>
              <a:t>.</a:t>
            </a:r>
            <a:endParaRPr lang="en-US" sz="1400" dirty="0"/>
          </a:p>
        </p:txBody>
      </p:sp>
      <p:sp>
        <p:nvSpPr>
          <p:cNvPr id="3" name="Rectangle 2"/>
          <p:cNvSpPr/>
          <p:nvPr/>
        </p:nvSpPr>
        <p:spPr>
          <a:xfrm>
            <a:off x="320842" y="2396236"/>
            <a:ext cx="8534400" cy="1446550"/>
          </a:xfrm>
          <a:prstGeom prst="rect">
            <a:avLst/>
          </a:prstGeom>
        </p:spPr>
        <p:txBody>
          <a:bodyPr wrap="square">
            <a:spAutoFit/>
          </a:bodyPr>
          <a:lstStyle/>
          <a:p>
            <a:pPr algn="just"/>
            <a:r>
              <a:rPr lang="en-US" b="1" dirty="0" smtClean="0"/>
              <a:t>Introduction</a:t>
            </a:r>
          </a:p>
          <a:p>
            <a:pPr algn="just"/>
            <a:endParaRPr lang="en-US" sz="1400" dirty="0"/>
          </a:p>
          <a:p>
            <a:pPr algn="just"/>
            <a:r>
              <a:rPr lang="en-US" sz="1400" dirty="0"/>
              <a:t>Real estate markets are dynamic and influenced by multiple factors, including property type, location, assessed value, and market demand. Understanding these factors through historical sales data can help identify patterns and predict future trends. This study utilizes a dataset comprising over 1 million property sales records to visualize key real estate metrics.</a:t>
            </a:r>
          </a:p>
        </p:txBody>
      </p:sp>
      <p:sp>
        <p:nvSpPr>
          <p:cNvPr id="4" name="Rectangle 3"/>
          <p:cNvSpPr/>
          <p:nvPr/>
        </p:nvSpPr>
        <p:spPr>
          <a:xfrm>
            <a:off x="312821" y="4072637"/>
            <a:ext cx="8534400" cy="1723549"/>
          </a:xfrm>
          <a:prstGeom prst="rect">
            <a:avLst/>
          </a:prstGeom>
        </p:spPr>
        <p:txBody>
          <a:bodyPr wrap="square">
            <a:spAutoFit/>
          </a:bodyPr>
          <a:lstStyle/>
          <a:p>
            <a:pPr algn="just"/>
            <a:r>
              <a:rPr lang="en-US" b="1" dirty="0"/>
              <a:t>Data </a:t>
            </a:r>
            <a:r>
              <a:rPr lang="en-US" b="1" dirty="0" smtClean="0"/>
              <a:t>Overview</a:t>
            </a:r>
          </a:p>
          <a:p>
            <a:pPr algn="just"/>
            <a:endParaRPr lang="en-US" sz="1400" dirty="0"/>
          </a:p>
          <a:p>
            <a:pPr marL="285750" indent="-285750" algn="just">
              <a:buFont typeface="Arial" pitchFamily="34" charset="0"/>
              <a:buChar char="•"/>
            </a:pPr>
            <a:r>
              <a:rPr lang="en-US" sz="1400" dirty="0"/>
              <a:t>The dataset consists of 1,048,575 records with the following key attributes:</a:t>
            </a:r>
          </a:p>
          <a:p>
            <a:pPr marL="285750" indent="-285750" algn="just">
              <a:buFont typeface="Arial" pitchFamily="34" charset="0"/>
              <a:buChar char="•"/>
            </a:pPr>
            <a:r>
              <a:rPr lang="en-US" sz="1400" dirty="0"/>
              <a:t>Transaction Details: Serial Number, List Year, Date Recorded, Town, Address</a:t>
            </a:r>
          </a:p>
          <a:p>
            <a:pPr marL="285750" indent="-285750" algn="just">
              <a:buFont typeface="Arial" pitchFamily="34" charset="0"/>
              <a:buChar char="•"/>
            </a:pPr>
            <a:r>
              <a:rPr lang="en-US" sz="1400" dirty="0"/>
              <a:t>Financial Metrics: Assessed Value, Sale Amount, Sales Ratio</a:t>
            </a:r>
          </a:p>
          <a:p>
            <a:pPr marL="285750" indent="-285750" algn="just">
              <a:buFont typeface="Arial" pitchFamily="34" charset="0"/>
              <a:buChar char="•"/>
            </a:pPr>
            <a:r>
              <a:rPr lang="en-US" sz="1400" dirty="0"/>
              <a:t>Property Classification: Property Type (Residential, Commercial), Residential Type (Single Family, Condo, etc.)</a:t>
            </a:r>
          </a:p>
          <a:p>
            <a:pPr marL="285750" indent="-285750" algn="just">
              <a:buFont typeface="Arial" pitchFamily="34" charset="0"/>
              <a:buChar char="•"/>
            </a:pPr>
            <a:r>
              <a:rPr lang="en-US" sz="1400" dirty="0"/>
              <a:t>Geographic Data: Latitude, Longitude (available for ~30% of records</a:t>
            </a:r>
            <a:r>
              <a:rPr lang="en-US" sz="1400" dirty="0" smtClean="0"/>
              <a:t>)</a:t>
            </a:r>
          </a:p>
        </p:txBody>
      </p:sp>
    </p:spTree>
    <p:extLst>
      <p:ext uri="{BB962C8B-B14F-4D97-AF65-F5344CB8AC3E}">
        <p14:creationId xmlns:p14="http://schemas.microsoft.com/office/powerpoint/2010/main" val="214800035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72976" y="762000"/>
            <a:ext cx="8305800" cy="1231106"/>
          </a:xfrm>
          <a:prstGeom prst="rect">
            <a:avLst/>
          </a:prstGeom>
        </p:spPr>
        <p:txBody>
          <a:bodyPr wrap="square">
            <a:spAutoFit/>
          </a:bodyPr>
          <a:lstStyle/>
          <a:p>
            <a:r>
              <a:rPr lang="en-US" b="1" dirty="0"/>
              <a:t>Preprocessing Steps:</a:t>
            </a:r>
          </a:p>
          <a:p>
            <a:endParaRPr lang="en-US" sz="1400" dirty="0"/>
          </a:p>
          <a:p>
            <a:pPr marL="285750" lvl="0" indent="-285750">
              <a:buFont typeface="Arial" pitchFamily="34" charset="0"/>
              <a:buChar char="•"/>
            </a:pPr>
            <a:r>
              <a:rPr lang="en-US" sz="1400" dirty="0"/>
              <a:t>Converted blank values to NA values</a:t>
            </a:r>
          </a:p>
          <a:p>
            <a:pPr marL="285750" lvl="0" indent="-285750">
              <a:buFont typeface="Arial" pitchFamily="34" charset="0"/>
              <a:buChar char="•"/>
            </a:pPr>
            <a:r>
              <a:rPr lang="en-US" sz="1400" dirty="0"/>
              <a:t>Replaced NA values in categorical columns using mode.</a:t>
            </a:r>
          </a:p>
          <a:p>
            <a:pPr marL="285750" lvl="0" indent="-285750">
              <a:buFont typeface="Arial" pitchFamily="34" charset="0"/>
              <a:buChar char="•"/>
            </a:pPr>
            <a:r>
              <a:rPr lang="en-US" sz="1400" dirty="0"/>
              <a:t>Dropped columns with more than 60% missing data.</a:t>
            </a:r>
          </a:p>
        </p:txBody>
      </p:sp>
      <p:sp>
        <p:nvSpPr>
          <p:cNvPr id="4" name="Rectangle 3"/>
          <p:cNvSpPr/>
          <p:nvPr/>
        </p:nvSpPr>
        <p:spPr>
          <a:xfrm>
            <a:off x="372977" y="2362200"/>
            <a:ext cx="8305799" cy="1877437"/>
          </a:xfrm>
          <a:prstGeom prst="rect">
            <a:avLst/>
          </a:prstGeom>
        </p:spPr>
        <p:txBody>
          <a:bodyPr wrap="square">
            <a:spAutoFit/>
          </a:bodyPr>
          <a:lstStyle/>
          <a:p>
            <a:r>
              <a:rPr lang="en-US" b="1" dirty="0"/>
              <a:t>Research Questions for Tableau </a:t>
            </a:r>
            <a:r>
              <a:rPr lang="en-US" b="1" dirty="0" smtClean="0"/>
              <a:t>Dashboard</a:t>
            </a:r>
          </a:p>
          <a:p>
            <a:pPr marL="342900" indent="-342900">
              <a:buFont typeface="+mj-lt"/>
              <a:buAutoNum type="arabicPeriod"/>
            </a:pPr>
            <a:endParaRPr lang="en-US" sz="1400" dirty="0"/>
          </a:p>
          <a:p>
            <a:pPr marL="342900" lvl="0" indent="-342900">
              <a:buFont typeface="+mj-lt"/>
              <a:buAutoNum type="arabicPeriod"/>
            </a:pPr>
            <a:r>
              <a:rPr lang="en-US" sz="1400" dirty="0"/>
              <a:t>How have real estate sales trends changed over time?</a:t>
            </a:r>
          </a:p>
          <a:p>
            <a:pPr marL="342900" lvl="0" indent="-342900">
              <a:buFont typeface="+mj-lt"/>
              <a:buAutoNum type="arabicPeriod"/>
            </a:pPr>
            <a:r>
              <a:rPr lang="en-US" sz="1400" dirty="0"/>
              <a:t>Is there a seasonal trend in property sales, and which months see the highest and lowest transactions?</a:t>
            </a:r>
          </a:p>
          <a:p>
            <a:pPr marL="342900" lvl="0" indent="-342900">
              <a:buFont typeface="+mj-lt"/>
              <a:buAutoNum type="arabicPeriod"/>
            </a:pPr>
            <a:r>
              <a:rPr lang="en-US" sz="1400" dirty="0" smtClean="0"/>
              <a:t>Which </a:t>
            </a:r>
            <a:r>
              <a:rPr lang="en-US" sz="1400" dirty="0"/>
              <a:t>towns have shown the highest property price growth over the last decade</a:t>
            </a:r>
            <a:r>
              <a:rPr lang="en-US" sz="1400" dirty="0" smtClean="0"/>
              <a:t>?</a:t>
            </a:r>
          </a:p>
          <a:p>
            <a:pPr marL="342900" indent="-342900">
              <a:buFont typeface="+mj-lt"/>
              <a:buAutoNum type="arabicPeriod"/>
            </a:pPr>
            <a:r>
              <a:rPr lang="en-US" sz="1400" dirty="0"/>
              <a:t>What is the distribution of </a:t>
            </a:r>
            <a:r>
              <a:rPr lang="en-US" sz="1400" dirty="0" smtClean="0"/>
              <a:t>median sales </a:t>
            </a:r>
            <a:r>
              <a:rPr lang="en-US" sz="1400" dirty="0"/>
              <a:t>between different </a:t>
            </a:r>
            <a:r>
              <a:rPr lang="en-US" sz="1400" dirty="0" smtClean="0"/>
              <a:t>residential types?</a:t>
            </a:r>
            <a:endParaRPr lang="en-US" sz="1400" dirty="0"/>
          </a:p>
          <a:p>
            <a:pPr marL="342900" lvl="0" indent="-342900">
              <a:buFont typeface="+mj-lt"/>
              <a:buAutoNum type="arabicPeriod"/>
            </a:pPr>
            <a:r>
              <a:rPr lang="en-US" sz="1400" dirty="0"/>
              <a:t>What is the distribution of </a:t>
            </a:r>
            <a:r>
              <a:rPr lang="en-US" sz="1400" dirty="0" smtClean="0"/>
              <a:t>total sales </a:t>
            </a:r>
            <a:r>
              <a:rPr lang="en-US" sz="1400" dirty="0"/>
              <a:t>between different property types?</a:t>
            </a:r>
          </a:p>
          <a:p>
            <a:pPr marL="342900" indent="-342900">
              <a:buFont typeface="+mj-lt"/>
              <a:buAutoNum type="arabicPeriod"/>
            </a:pPr>
            <a:r>
              <a:rPr lang="en-US" sz="1400" dirty="0" smtClean="0"/>
              <a:t>How </a:t>
            </a:r>
            <a:r>
              <a:rPr lang="en-US" sz="1400" dirty="0"/>
              <a:t>has property values appreciated year-over-year across different property types</a:t>
            </a:r>
            <a:r>
              <a:rPr lang="en-US" sz="1400" dirty="0" smtClean="0"/>
              <a:t>?</a:t>
            </a:r>
          </a:p>
        </p:txBody>
      </p:sp>
      <p:sp>
        <p:nvSpPr>
          <p:cNvPr id="5" name="Rectangle 4"/>
          <p:cNvSpPr/>
          <p:nvPr/>
        </p:nvSpPr>
        <p:spPr>
          <a:xfrm>
            <a:off x="402302" y="4489847"/>
            <a:ext cx="8305798" cy="369332"/>
          </a:xfrm>
          <a:prstGeom prst="rect">
            <a:avLst/>
          </a:prstGeom>
        </p:spPr>
        <p:txBody>
          <a:bodyPr wrap="square">
            <a:spAutoFit/>
          </a:bodyPr>
          <a:lstStyle/>
          <a:p>
            <a:r>
              <a:rPr lang="en-US" b="1" dirty="0" smtClean="0"/>
              <a:t>KPIs:</a:t>
            </a:r>
            <a:endParaRPr lang="en-US" b="1"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976" y="4953000"/>
            <a:ext cx="8390024" cy="127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764348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9019" y="5105400"/>
            <a:ext cx="8305798" cy="1231106"/>
          </a:xfrm>
          <a:prstGeom prst="rect">
            <a:avLst/>
          </a:prstGeom>
        </p:spPr>
        <p:txBody>
          <a:bodyPr wrap="square">
            <a:spAutoFit/>
          </a:bodyPr>
          <a:lstStyle/>
          <a:p>
            <a:r>
              <a:rPr lang="en-US" b="1" dirty="0"/>
              <a:t>Insights:</a:t>
            </a:r>
          </a:p>
          <a:p>
            <a:pPr marL="285750" indent="-285750">
              <a:buFont typeface="Arial" pitchFamily="34" charset="0"/>
              <a:buChar char="•"/>
            </a:pPr>
            <a:endParaRPr lang="en-US" sz="1400" b="1" dirty="0" smtClean="0"/>
          </a:p>
          <a:p>
            <a:pPr marL="285750" indent="-285750">
              <a:buFont typeface="Arial" pitchFamily="34" charset="0"/>
              <a:buChar char="•"/>
            </a:pPr>
            <a:r>
              <a:rPr lang="en-US" sz="1400" b="1" dirty="0" smtClean="0"/>
              <a:t>2007-2011</a:t>
            </a:r>
            <a:r>
              <a:rPr lang="en-US" sz="1400" b="1" dirty="0"/>
              <a:t>:</a:t>
            </a:r>
            <a:r>
              <a:rPr lang="en-US" sz="1400" dirty="0"/>
              <a:t> Significant decline in sales, coinciding with the </a:t>
            </a:r>
            <a:r>
              <a:rPr lang="en-US" sz="1400" b="1" dirty="0"/>
              <a:t>2008 financial crisis</a:t>
            </a:r>
            <a:r>
              <a:rPr lang="en-US" sz="1400" dirty="0" smtClean="0"/>
              <a:t>.</a:t>
            </a:r>
          </a:p>
          <a:p>
            <a:pPr marL="285750" indent="-285750">
              <a:buFont typeface="Arial" pitchFamily="34" charset="0"/>
              <a:buChar char="•"/>
            </a:pPr>
            <a:r>
              <a:rPr lang="en-US" sz="1400" b="1" dirty="0" smtClean="0"/>
              <a:t>2012-2019</a:t>
            </a:r>
            <a:r>
              <a:rPr lang="en-US" sz="1400" b="1" dirty="0"/>
              <a:t>:</a:t>
            </a:r>
            <a:r>
              <a:rPr lang="en-US" sz="1400" dirty="0"/>
              <a:t> Gradual recovery with steady growth in sales</a:t>
            </a:r>
            <a:r>
              <a:rPr lang="en-US" sz="1400" dirty="0" smtClean="0"/>
              <a:t>.</a:t>
            </a:r>
          </a:p>
          <a:p>
            <a:pPr marL="285750" indent="-285750">
              <a:buFont typeface="Arial" pitchFamily="34" charset="0"/>
              <a:buChar char="•"/>
            </a:pPr>
            <a:r>
              <a:rPr lang="en-US" sz="1400" b="1" dirty="0" smtClean="0"/>
              <a:t>2020-2021</a:t>
            </a:r>
            <a:r>
              <a:rPr lang="en-US" sz="1400" b="1" dirty="0"/>
              <a:t>:</a:t>
            </a:r>
            <a:r>
              <a:rPr lang="en-US" sz="1400" dirty="0"/>
              <a:t> Sharp spike, possibly due to </a:t>
            </a:r>
            <a:r>
              <a:rPr lang="en-US" sz="1400" b="1" dirty="0"/>
              <a:t>pandemic-driven real estate demand</a:t>
            </a:r>
            <a:r>
              <a:rPr lang="en-US" sz="1400" dirty="0"/>
              <a:t> and low-interest rates.</a:t>
            </a:r>
          </a:p>
        </p:txBody>
      </p:sp>
      <p:sp>
        <p:nvSpPr>
          <p:cNvPr id="3" name="Rectangle 2"/>
          <p:cNvSpPr/>
          <p:nvPr/>
        </p:nvSpPr>
        <p:spPr>
          <a:xfrm>
            <a:off x="3343769" y="457200"/>
            <a:ext cx="2396297" cy="369332"/>
          </a:xfrm>
          <a:prstGeom prst="rect">
            <a:avLst/>
          </a:prstGeom>
        </p:spPr>
        <p:txBody>
          <a:bodyPr wrap="none">
            <a:spAutoFit/>
          </a:bodyPr>
          <a:lstStyle/>
          <a:p>
            <a:r>
              <a:rPr lang="en-US" b="1" dirty="0" smtClean="0"/>
              <a:t>Sales Trends Over Time</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1" y="990599"/>
            <a:ext cx="7315200" cy="4114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7252005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9019" y="5105400"/>
            <a:ext cx="8305798" cy="1015663"/>
          </a:xfrm>
          <a:prstGeom prst="rect">
            <a:avLst/>
          </a:prstGeom>
        </p:spPr>
        <p:txBody>
          <a:bodyPr wrap="square">
            <a:spAutoFit/>
          </a:bodyPr>
          <a:lstStyle/>
          <a:p>
            <a:r>
              <a:rPr lang="en-US" b="1" dirty="0"/>
              <a:t>Insights:</a:t>
            </a:r>
          </a:p>
          <a:p>
            <a:pPr marL="285750" indent="-285750">
              <a:buFont typeface="Arial" pitchFamily="34" charset="0"/>
              <a:buChar char="•"/>
            </a:pPr>
            <a:endParaRPr lang="en-US" sz="1400" b="1" dirty="0" smtClean="0"/>
          </a:p>
          <a:p>
            <a:r>
              <a:rPr lang="en-US" sz="1400" dirty="0"/>
              <a:t>Spring &amp; summer months (March–August) show peak activity, while early winter (January-February) and post-summer (September-October) experience slowdowns.</a:t>
            </a:r>
            <a:endParaRPr lang="en-US" sz="1400" b="1" dirty="0" smtClean="0"/>
          </a:p>
        </p:txBody>
      </p:sp>
      <p:sp>
        <p:nvSpPr>
          <p:cNvPr id="3" name="Rectangle 2"/>
          <p:cNvSpPr/>
          <p:nvPr/>
        </p:nvSpPr>
        <p:spPr>
          <a:xfrm>
            <a:off x="3343769" y="457200"/>
            <a:ext cx="2084353" cy="369332"/>
          </a:xfrm>
          <a:prstGeom prst="rect">
            <a:avLst/>
          </a:prstGeom>
        </p:spPr>
        <p:txBody>
          <a:bodyPr wrap="none">
            <a:spAutoFit/>
          </a:bodyPr>
          <a:lstStyle/>
          <a:p>
            <a:r>
              <a:rPr lang="en-US" b="1" dirty="0" smtClean="0"/>
              <a:t>Total Sale by Month</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921427"/>
            <a:ext cx="7391400" cy="4196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7949577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9019" y="5105400"/>
            <a:ext cx="8305798" cy="1231106"/>
          </a:xfrm>
          <a:prstGeom prst="rect">
            <a:avLst/>
          </a:prstGeom>
        </p:spPr>
        <p:txBody>
          <a:bodyPr wrap="square">
            <a:spAutoFit/>
          </a:bodyPr>
          <a:lstStyle/>
          <a:p>
            <a:r>
              <a:rPr lang="en-US" b="1" dirty="0"/>
              <a:t>Insights:</a:t>
            </a:r>
          </a:p>
          <a:p>
            <a:pPr marL="285750" indent="-285750">
              <a:buFont typeface="Arial" pitchFamily="34" charset="0"/>
              <a:buChar char="•"/>
            </a:pPr>
            <a:endParaRPr lang="en-US" sz="1400" b="1" dirty="0" smtClean="0"/>
          </a:p>
          <a:p>
            <a:r>
              <a:rPr lang="en-US" sz="1400" dirty="0"/>
              <a:t>The </a:t>
            </a:r>
            <a:r>
              <a:rPr lang="en-US" sz="1400" b="1" dirty="0"/>
              <a:t>Top 5 Towns by Property Price Growth</a:t>
            </a:r>
            <a:r>
              <a:rPr lang="en-US" sz="1400" dirty="0"/>
              <a:t> indicate that </a:t>
            </a:r>
            <a:r>
              <a:rPr lang="en-US" sz="1400" b="1" dirty="0"/>
              <a:t>New Haven</a:t>
            </a:r>
            <a:r>
              <a:rPr lang="en-US" sz="1400" dirty="0"/>
              <a:t> experienced the highest </a:t>
            </a:r>
            <a:r>
              <a:rPr lang="en-US" sz="1400" dirty="0" err="1"/>
              <a:t>YoY</a:t>
            </a:r>
            <a:r>
              <a:rPr lang="en-US" sz="1400" dirty="0"/>
              <a:t> price growth, followed by </a:t>
            </a:r>
            <a:r>
              <a:rPr lang="en-US" sz="1400" b="1" dirty="0"/>
              <a:t>Bridgeport and West Hartford</a:t>
            </a:r>
            <a:r>
              <a:rPr lang="en-US" sz="1400" dirty="0"/>
              <a:t>, suggesting significant property value appreciation in these areas. This trend highlights strong real estate demand and potential investment opportunities in these towns.</a:t>
            </a:r>
            <a:endParaRPr lang="en-US" sz="1400" b="1" dirty="0" smtClean="0"/>
          </a:p>
        </p:txBody>
      </p:sp>
      <p:sp>
        <p:nvSpPr>
          <p:cNvPr id="3" name="Rectangle 2"/>
          <p:cNvSpPr/>
          <p:nvPr/>
        </p:nvSpPr>
        <p:spPr>
          <a:xfrm>
            <a:off x="1888499" y="457200"/>
            <a:ext cx="5306837" cy="369332"/>
          </a:xfrm>
          <a:prstGeom prst="rect">
            <a:avLst/>
          </a:prstGeom>
        </p:spPr>
        <p:txBody>
          <a:bodyPr wrap="none">
            <a:spAutoFit/>
          </a:bodyPr>
          <a:lstStyle/>
          <a:p>
            <a:r>
              <a:rPr lang="en-US" b="1" dirty="0" smtClean="0"/>
              <a:t>Top 5 Towns by Year-Over-Year Property Price Growth</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942321"/>
            <a:ext cx="5638800" cy="4163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412520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0998" y="4776173"/>
            <a:ext cx="8305798" cy="1938992"/>
          </a:xfrm>
          <a:prstGeom prst="rect">
            <a:avLst/>
          </a:prstGeom>
        </p:spPr>
        <p:txBody>
          <a:bodyPr wrap="square">
            <a:spAutoFit/>
          </a:bodyPr>
          <a:lstStyle/>
          <a:p>
            <a:r>
              <a:rPr lang="en-US" b="1" dirty="0"/>
              <a:t>Insights:</a:t>
            </a:r>
          </a:p>
          <a:p>
            <a:pPr marL="285750" indent="-285750">
              <a:buFont typeface="Arial" pitchFamily="34" charset="0"/>
              <a:buChar char="•"/>
            </a:pPr>
            <a:endParaRPr lang="en-US" sz="1400" b="1" dirty="0" smtClean="0"/>
          </a:p>
          <a:p>
            <a:pPr marL="285750" indent="-285750">
              <a:buFont typeface="Arial" pitchFamily="34" charset="0"/>
              <a:buChar char="•"/>
            </a:pPr>
            <a:r>
              <a:rPr lang="en-US" sz="1400" b="1" dirty="0"/>
              <a:t>2008-2009:</a:t>
            </a:r>
            <a:r>
              <a:rPr lang="en-US" sz="1400" dirty="0"/>
              <a:t> Severe decline in property appreciation, coinciding with the </a:t>
            </a:r>
            <a:r>
              <a:rPr lang="en-US" sz="1400" b="1" dirty="0"/>
              <a:t>2008 financial crisis</a:t>
            </a:r>
            <a:r>
              <a:rPr lang="en-US" sz="1400" dirty="0"/>
              <a:t>, with some property types experiencing over </a:t>
            </a:r>
            <a:r>
              <a:rPr lang="en-US" sz="1400" b="1" dirty="0" smtClean="0"/>
              <a:t>36% </a:t>
            </a:r>
            <a:r>
              <a:rPr lang="en-US" sz="1400" b="1" dirty="0"/>
              <a:t>depreciation</a:t>
            </a:r>
            <a:r>
              <a:rPr lang="en-US" sz="1400" dirty="0" smtClean="0"/>
              <a:t>.</a:t>
            </a:r>
          </a:p>
          <a:p>
            <a:pPr marL="285750" indent="-285750">
              <a:buFont typeface="Arial" pitchFamily="34" charset="0"/>
              <a:buChar char="•"/>
            </a:pPr>
            <a:r>
              <a:rPr lang="en-US" sz="1400" b="1" dirty="0" smtClean="0"/>
              <a:t>2011-2019</a:t>
            </a:r>
            <a:r>
              <a:rPr lang="en-US" sz="1400" b="1" dirty="0"/>
              <a:t>:</a:t>
            </a:r>
            <a:r>
              <a:rPr lang="en-US" sz="1400" dirty="0"/>
              <a:t> Gradual recovery with consistent positive appreciation, especially </a:t>
            </a:r>
            <a:r>
              <a:rPr lang="en-US" sz="1400" dirty="0" smtClean="0"/>
              <a:t>for </a:t>
            </a:r>
            <a:r>
              <a:rPr lang="en-US" sz="1400" b="1" dirty="0" smtClean="0"/>
              <a:t>Commercial, </a:t>
            </a:r>
            <a:r>
              <a:rPr lang="en-US" sz="1400" b="1" dirty="0"/>
              <a:t>and Residential properties</a:t>
            </a:r>
            <a:r>
              <a:rPr lang="en-US" sz="1400" dirty="0" smtClean="0"/>
              <a:t>.</a:t>
            </a:r>
          </a:p>
          <a:p>
            <a:pPr marL="285750" indent="-285750">
              <a:buFont typeface="Arial" pitchFamily="34" charset="0"/>
              <a:buChar char="•"/>
            </a:pPr>
            <a:r>
              <a:rPr lang="en-US" sz="1400" b="1" dirty="0" smtClean="0"/>
              <a:t>2020-2021</a:t>
            </a:r>
            <a:r>
              <a:rPr lang="en-US" sz="1400" b="1" dirty="0"/>
              <a:t>:</a:t>
            </a:r>
            <a:r>
              <a:rPr lang="en-US" sz="1400" dirty="0"/>
              <a:t> Sharp spike in appreciation, likely due to </a:t>
            </a:r>
            <a:r>
              <a:rPr lang="en-US" sz="1400" b="1" dirty="0"/>
              <a:t>pandemic-driven housing demand and low interest </a:t>
            </a:r>
            <a:r>
              <a:rPr lang="en-US" sz="1400" b="1" dirty="0" smtClean="0"/>
              <a:t>rates</a:t>
            </a:r>
            <a:r>
              <a:rPr lang="en-US" sz="1400" dirty="0"/>
              <a:t> but the </a:t>
            </a:r>
            <a:r>
              <a:rPr lang="en-US" sz="1400" b="1" dirty="0"/>
              <a:t>drop in 2023</a:t>
            </a:r>
            <a:r>
              <a:rPr lang="en-US" sz="1400" dirty="0"/>
              <a:t> suggests a market correction or economic slowdown.</a:t>
            </a:r>
            <a:endParaRPr lang="en-US" sz="1400" b="1" dirty="0" smtClean="0"/>
          </a:p>
        </p:txBody>
      </p:sp>
      <p:sp>
        <p:nvSpPr>
          <p:cNvPr id="3" name="Rectangle 2"/>
          <p:cNvSpPr/>
          <p:nvPr/>
        </p:nvSpPr>
        <p:spPr>
          <a:xfrm>
            <a:off x="2359269" y="457200"/>
            <a:ext cx="4365298" cy="369332"/>
          </a:xfrm>
          <a:prstGeom prst="rect">
            <a:avLst/>
          </a:prstGeom>
        </p:spPr>
        <p:txBody>
          <a:bodyPr wrap="none">
            <a:spAutoFit/>
          </a:bodyPr>
          <a:lstStyle/>
          <a:p>
            <a:r>
              <a:rPr lang="en-US" b="1" dirty="0" smtClean="0"/>
              <a:t>Year-Over-Year Property Value Appreciation</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5049" y="826531"/>
            <a:ext cx="5773738" cy="4231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8301" y="826531"/>
            <a:ext cx="1152525" cy="600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4562484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0998" y="4776173"/>
            <a:ext cx="8305798" cy="1661993"/>
          </a:xfrm>
          <a:prstGeom prst="rect">
            <a:avLst/>
          </a:prstGeom>
        </p:spPr>
        <p:txBody>
          <a:bodyPr wrap="square">
            <a:spAutoFit/>
          </a:bodyPr>
          <a:lstStyle/>
          <a:p>
            <a:r>
              <a:rPr lang="en-US" b="1" dirty="0"/>
              <a:t>Insights:</a:t>
            </a:r>
          </a:p>
          <a:p>
            <a:pPr marL="285750" indent="-285750">
              <a:buFont typeface="Arial" pitchFamily="34" charset="0"/>
              <a:buChar char="•"/>
            </a:pPr>
            <a:endParaRPr lang="en-US" sz="1400" b="1" dirty="0" smtClean="0"/>
          </a:p>
          <a:p>
            <a:pPr marL="285750" indent="-285750">
              <a:buFont typeface="Arial" pitchFamily="34" charset="0"/>
              <a:buChar char="•"/>
            </a:pPr>
            <a:r>
              <a:rPr lang="en-US" sz="1400" dirty="0"/>
              <a:t>The </a:t>
            </a:r>
            <a:r>
              <a:rPr lang="en-US" sz="1400" b="1" dirty="0"/>
              <a:t>Median Sales Distribution by Property Type</a:t>
            </a:r>
            <a:r>
              <a:rPr lang="en-US" sz="1400" dirty="0"/>
              <a:t> shows that </a:t>
            </a:r>
            <a:r>
              <a:rPr lang="en-US" sz="1400" b="1" dirty="0"/>
              <a:t>Residential properties</a:t>
            </a:r>
            <a:r>
              <a:rPr lang="en-US" sz="1400" dirty="0"/>
              <a:t> have the highest median sales price at </a:t>
            </a:r>
            <a:r>
              <a:rPr lang="en-US" sz="1400" b="1" dirty="0"/>
              <a:t>$235K</a:t>
            </a:r>
            <a:r>
              <a:rPr lang="en-US" sz="1400" dirty="0"/>
              <a:t>, followed by </a:t>
            </a:r>
            <a:r>
              <a:rPr lang="en-US" sz="1400" b="1" dirty="0"/>
              <a:t>Commercial properties at $170K</a:t>
            </a:r>
            <a:r>
              <a:rPr lang="en-US" sz="1400" dirty="0"/>
              <a:t>, while </a:t>
            </a:r>
            <a:r>
              <a:rPr lang="en-US" sz="1400" b="1" dirty="0"/>
              <a:t>Vacant Land</a:t>
            </a:r>
            <a:r>
              <a:rPr lang="en-US" sz="1400" dirty="0"/>
              <a:t> has the lowest median price at </a:t>
            </a:r>
            <a:r>
              <a:rPr lang="en-US" sz="1400" b="1" dirty="0"/>
              <a:t>$</a:t>
            </a:r>
            <a:r>
              <a:rPr lang="en-US" sz="1400" b="1" dirty="0" smtClean="0"/>
              <a:t>100K</a:t>
            </a:r>
            <a:r>
              <a:rPr lang="en-US" sz="1400" dirty="0" smtClean="0"/>
              <a:t>.</a:t>
            </a:r>
          </a:p>
          <a:p>
            <a:pPr marL="285750" indent="-285750">
              <a:buFont typeface="Arial" pitchFamily="34" charset="0"/>
              <a:buChar char="•"/>
            </a:pPr>
            <a:r>
              <a:rPr lang="en-US" sz="1400" dirty="0" smtClean="0"/>
              <a:t>This </a:t>
            </a:r>
            <a:r>
              <a:rPr lang="en-US" sz="1400" dirty="0"/>
              <a:t>suggests that </a:t>
            </a:r>
            <a:r>
              <a:rPr lang="en-US" sz="1400" b="1" dirty="0"/>
              <a:t>residential properties hold the most value</a:t>
            </a:r>
            <a:r>
              <a:rPr lang="en-US" sz="1400" dirty="0"/>
              <a:t>, whereas </a:t>
            </a:r>
            <a:r>
              <a:rPr lang="en-US" sz="1400" b="1" dirty="0"/>
              <a:t>vacant land transactions are comparatively lower-priced</a:t>
            </a:r>
            <a:r>
              <a:rPr lang="en-US" sz="1400" dirty="0"/>
              <a:t>, potentially indicating less demand or lower valuation.</a:t>
            </a:r>
            <a:endParaRPr lang="en-US" sz="1400" b="1" dirty="0" smtClean="0"/>
          </a:p>
        </p:txBody>
      </p:sp>
      <p:sp>
        <p:nvSpPr>
          <p:cNvPr id="3" name="Rectangle 2"/>
          <p:cNvSpPr/>
          <p:nvPr/>
        </p:nvSpPr>
        <p:spPr>
          <a:xfrm>
            <a:off x="2359269" y="457200"/>
            <a:ext cx="4365298" cy="369332"/>
          </a:xfrm>
          <a:prstGeom prst="rect">
            <a:avLst/>
          </a:prstGeom>
        </p:spPr>
        <p:txBody>
          <a:bodyPr wrap="none">
            <a:spAutoFit/>
          </a:bodyPr>
          <a:lstStyle/>
          <a:p>
            <a:r>
              <a:rPr lang="en-US" b="1" dirty="0"/>
              <a:t>Median Sales Distribution by Property Type</a:t>
            </a:r>
            <a:endParaRPr lang="en-US" b="1" dirty="0" smtClean="0"/>
          </a:p>
        </p:txBody>
      </p:sp>
      <p:pic>
        <p:nvPicPr>
          <p:cNvPr id="717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28418"/>
          <a:stretch/>
        </p:blipFill>
        <p:spPr bwMode="auto">
          <a:xfrm>
            <a:off x="2474680" y="1113606"/>
            <a:ext cx="4118433" cy="3634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9383689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9019" y="5105400"/>
            <a:ext cx="8305798" cy="1446550"/>
          </a:xfrm>
          <a:prstGeom prst="rect">
            <a:avLst/>
          </a:prstGeom>
        </p:spPr>
        <p:txBody>
          <a:bodyPr wrap="square">
            <a:spAutoFit/>
          </a:bodyPr>
          <a:lstStyle/>
          <a:p>
            <a:r>
              <a:rPr lang="en-US" b="1" dirty="0"/>
              <a:t>Insights:</a:t>
            </a:r>
          </a:p>
          <a:p>
            <a:pPr marL="285750" indent="-285750">
              <a:buFont typeface="Arial" pitchFamily="34" charset="0"/>
              <a:buChar char="•"/>
            </a:pPr>
            <a:endParaRPr lang="en-US" sz="1400" b="1" dirty="0" smtClean="0"/>
          </a:p>
          <a:p>
            <a:r>
              <a:rPr lang="en-US" sz="1400" dirty="0"/>
              <a:t>The </a:t>
            </a:r>
            <a:r>
              <a:rPr lang="en-US" sz="1400" b="1" dirty="0"/>
              <a:t>Median Sales Distribution by Residential Type</a:t>
            </a:r>
            <a:r>
              <a:rPr lang="en-US" sz="1400" dirty="0"/>
              <a:t> shows that </a:t>
            </a:r>
            <a:r>
              <a:rPr lang="en-US" sz="1400" b="1" dirty="0"/>
              <a:t>Single Family homes</a:t>
            </a:r>
            <a:r>
              <a:rPr lang="en-US" sz="1400" dirty="0"/>
              <a:t> have the highest median sale price at </a:t>
            </a:r>
            <a:r>
              <a:rPr lang="en-US" sz="1400" b="1" dirty="0"/>
              <a:t>$432.81K</a:t>
            </a:r>
            <a:r>
              <a:rPr lang="en-US" sz="1400" dirty="0"/>
              <a:t>, followed by </a:t>
            </a:r>
            <a:r>
              <a:rPr lang="en-US" sz="1400" b="1" dirty="0"/>
              <a:t>Condos ($285.77K) and Four Family homes ($277.95K)</a:t>
            </a:r>
            <a:r>
              <a:rPr lang="en-US" sz="1400" dirty="0"/>
              <a:t>. </a:t>
            </a:r>
            <a:r>
              <a:rPr lang="en-US" sz="1400" b="1" dirty="0"/>
              <a:t>Multi-family properties (Two, Three, and Four Family homes) tend to have lower median prices</a:t>
            </a:r>
            <a:r>
              <a:rPr lang="en-US" sz="1400" dirty="0"/>
              <a:t>, suggesting they might be more affordable for investors or buyers looking for rental income opportunities.</a:t>
            </a:r>
            <a:endParaRPr lang="en-US" sz="1400" b="1" dirty="0" smtClean="0"/>
          </a:p>
        </p:txBody>
      </p:sp>
      <p:sp>
        <p:nvSpPr>
          <p:cNvPr id="3" name="Rectangle 2"/>
          <p:cNvSpPr/>
          <p:nvPr/>
        </p:nvSpPr>
        <p:spPr>
          <a:xfrm>
            <a:off x="2255918" y="381000"/>
            <a:ext cx="4571999" cy="369332"/>
          </a:xfrm>
          <a:prstGeom prst="rect">
            <a:avLst/>
          </a:prstGeom>
        </p:spPr>
        <p:txBody>
          <a:bodyPr wrap="square">
            <a:spAutoFit/>
          </a:bodyPr>
          <a:lstStyle/>
          <a:p>
            <a:pPr algn="ctr"/>
            <a:r>
              <a:rPr lang="en-US" b="1" dirty="0" smtClean="0"/>
              <a:t>Median Sales Distribution by </a:t>
            </a:r>
            <a:r>
              <a:rPr lang="en-US" b="1" dirty="0" smtClean="0"/>
              <a:t>Residential Type</a:t>
            </a:r>
            <a:endParaRPr lang="en-US" b="1" dirty="0" smtClean="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199" y="830726"/>
            <a:ext cx="4530283"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4562484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9019" y="5105400"/>
            <a:ext cx="8305798" cy="1446550"/>
          </a:xfrm>
          <a:prstGeom prst="rect">
            <a:avLst/>
          </a:prstGeom>
        </p:spPr>
        <p:txBody>
          <a:bodyPr wrap="square">
            <a:spAutoFit/>
          </a:bodyPr>
          <a:lstStyle/>
          <a:p>
            <a:r>
              <a:rPr lang="en-US" b="1" dirty="0"/>
              <a:t>Insights:</a:t>
            </a:r>
          </a:p>
          <a:p>
            <a:endParaRPr lang="en-US" sz="1400" dirty="0" smtClean="0"/>
          </a:p>
          <a:p>
            <a:r>
              <a:rPr lang="en-US" sz="1400" dirty="0"/>
              <a:t>The </a:t>
            </a:r>
            <a:r>
              <a:rPr lang="en-US" sz="1400" b="1" dirty="0"/>
              <a:t>Assessed Value vs. Sale Price Comparison</a:t>
            </a:r>
            <a:r>
              <a:rPr lang="en-US" sz="1400" dirty="0"/>
              <a:t> shows that across all residential types, </a:t>
            </a:r>
            <a:r>
              <a:rPr lang="en-US" sz="1400" b="1" dirty="0"/>
              <a:t>sale prices (orange bars) tend to be higher than assessed values (blue bars)</a:t>
            </a:r>
            <a:r>
              <a:rPr lang="en-US" sz="1400" dirty="0"/>
              <a:t>, indicating a strong market where properties are selling for more than their tax-assessed value. </a:t>
            </a:r>
            <a:r>
              <a:rPr lang="en-US" sz="1400" b="1" dirty="0"/>
              <a:t>Single Family homes exhibit the highest gap between sale price and assessed value</a:t>
            </a:r>
            <a:r>
              <a:rPr lang="en-US" sz="1400" dirty="0"/>
              <a:t>, suggesting strong demand and appreciation in this category.</a:t>
            </a:r>
            <a:endParaRPr lang="en-US" sz="1400" b="1" dirty="0" smtClean="0"/>
          </a:p>
        </p:txBody>
      </p:sp>
      <p:sp>
        <p:nvSpPr>
          <p:cNvPr id="3" name="Rectangle 2"/>
          <p:cNvSpPr/>
          <p:nvPr/>
        </p:nvSpPr>
        <p:spPr>
          <a:xfrm>
            <a:off x="2770951" y="457200"/>
            <a:ext cx="3541932" cy="369332"/>
          </a:xfrm>
          <a:prstGeom prst="rect">
            <a:avLst/>
          </a:prstGeom>
        </p:spPr>
        <p:txBody>
          <a:bodyPr wrap="none">
            <a:spAutoFit/>
          </a:bodyPr>
          <a:lstStyle/>
          <a:p>
            <a:r>
              <a:rPr lang="en-US" b="1" dirty="0" smtClean="0"/>
              <a:t>Sales Distribution by Property Type</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0565" y="978932"/>
            <a:ext cx="5182704" cy="41264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4897841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615968" y="304800"/>
            <a:ext cx="3838423" cy="523220"/>
          </a:xfrm>
          <a:prstGeom prst="rect">
            <a:avLst/>
          </a:prstGeom>
        </p:spPr>
        <p:txBody>
          <a:bodyPr wrap="none">
            <a:spAutoFit/>
          </a:bodyPr>
          <a:lstStyle/>
          <a:p>
            <a:r>
              <a:rPr lang="en-US" sz="2800" b="1" dirty="0" smtClean="0"/>
              <a:t>Final Tableau Dashboard</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0" y="914400"/>
            <a:ext cx="9065240" cy="5440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0060292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97041" y="2514600"/>
            <a:ext cx="8305800" cy="2308324"/>
          </a:xfrm>
          <a:prstGeom prst="rect">
            <a:avLst/>
          </a:prstGeom>
        </p:spPr>
        <p:txBody>
          <a:bodyPr wrap="square">
            <a:spAutoFit/>
          </a:bodyPr>
          <a:lstStyle/>
          <a:p>
            <a:r>
              <a:rPr lang="en-US" b="1" dirty="0" smtClean="0"/>
              <a:t>Recommendations:</a:t>
            </a:r>
            <a:endParaRPr lang="en-US" dirty="0"/>
          </a:p>
          <a:p>
            <a:r>
              <a:rPr lang="en-US" sz="1400" b="1" dirty="0" smtClean="0"/>
              <a:t>For </a:t>
            </a:r>
            <a:r>
              <a:rPr lang="en-US" sz="1400" b="1" dirty="0"/>
              <a:t>Buyers &amp; Investors:</a:t>
            </a:r>
          </a:p>
          <a:p>
            <a:pPr marL="285750" lvl="0" indent="-285750">
              <a:buFont typeface="Arial" pitchFamily="34" charset="0"/>
              <a:buChar char="•"/>
            </a:pPr>
            <a:r>
              <a:rPr lang="en-US" sz="1400" dirty="0"/>
              <a:t>Consider towns with a low sales ratio, as properties may be undervalued.</a:t>
            </a:r>
          </a:p>
          <a:p>
            <a:pPr marL="285750" lvl="0" indent="-285750">
              <a:buFont typeface="Arial" pitchFamily="34" charset="0"/>
              <a:buChar char="•"/>
            </a:pPr>
            <a:r>
              <a:rPr lang="en-US" sz="1400" dirty="0"/>
              <a:t>Look at trends in residential type pricing to make cost-effective decisions.</a:t>
            </a:r>
          </a:p>
          <a:p>
            <a:r>
              <a:rPr lang="en-US" sz="1400" b="1" dirty="0"/>
              <a:t>For Government &amp; Assessors:</a:t>
            </a:r>
          </a:p>
          <a:p>
            <a:pPr marL="285750" lvl="0" indent="-285750">
              <a:buFont typeface="Arial" pitchFamily="34" charset="0"/>
              <a:buChar char="•"/>
            </a:pPr>
            <a:r>
              <a:rPr lang="en-US" sz="1400" dirty="0"/>
              <a:t>Improve property assessment accuracy in towns with high discrepancies between </a:t>
            </a:r>
            <a:r>
              <a:rPr lang="en-US" sz="1400" dirty="0" smtClean="0"/>
              <a:t>and </a:t>
            </a:r>
            <a:r>
              <a:rPr lang="en-US" sz="1400" dirty="0"/>
              <a:t>sale price.</a:t>
            </a:r>
          </a:p>
          <a:p>
            <a:pPr marL="285750" lvl="0" indent="-285750">
              <a:buFont typeface="Arial" pitchFamily="34" charset="0"/>
              <a:buChar char="•"/>
            </a:pPr>
            <a:r>
              <a:rPr lang="en-US" sz="1400" dirty="0"/>
              <a:t>Ensure fair and standardized property evaluations to prevent over/under-taxation.</a:t>
            </a:r>
          </a:p>
          <a:p>
            <a:r>
              <a:rPr lang="en-US" sz="1400" b="1" dirty="0"/>
              <a:t>For Real Estate Agents &amp; Developers:</a:t>
            </a:r>
          </a:p>
          <a:p>
            <a:pPr marL="285750" lvl="0" indent="-285750">
              <a:buFont typeface="Arial" pitchFamily="34" charset="0"/>
              <a:buChar char="•"/>
            </a:pPr>
            <a:r>
              <a:rPr lang="en-US" sz="1400" dirty="0"/>
              <a:t>Focus on high-growth towns for new developments.</a:t>
            </a:r>
          </a:p>
          <a:p>
            <a:pPr marL="285750" indent="-285750">
              <a:buFont typeface="Arial" pitchFamily="34" charset="0"/>
              <a:buChar char="•"/>
            </a:pPr>
            <a:r>
              <a:rPr lang="en-US" sz="1400" dirty="0"/>
              <a:t>Use historical sales data to strategize marketing and pricing</a:t>
            </a:r>
            <a:r>
              <a:rPr lang="en-US" sz="1400" dirty="0" smtClean="0"/>
              <a:t>.</a:t>
            </a:r>
            <a:endParaRPr lang="en-US" sz="1100" dirty="0"/>
          </a:p>
        </p:txBody>
      </p:sp>
      <p:sp>
        <p:nvSpPr>
          <p:cNvPr id="6" name="Rectangle 5"/>
          <p:cNvSpPr/>
          <p:nvPr/>
        </p:nvSpPr>
        <p:spPr>
          <a:xfrm>
            <a:off x="360947" y="304800"/>
            <a:ext cx="8305800" cy="2092881"/>
          </a:xfrm>
          <a:prstGeom prst="rect">
            <a:avLst/>
          </a:prstGeom>
        </p:spPr>
        <p:txBody>
          <a:bodyPr wrap="square">
            <a:spAutoFit/>
          </a:bodyPr>
          <a:lstStyle/>
          <a:p>
            <a:r>
              <a:rPr lang="en-US" b="1" dirty="0"/>
              <a:t>Key </a:t>
            </a:r>
            <a:r>
              <a:rPr lang="en-US" b="1" dirty="0" smtClean="0"/>
              <a:t>Findings</a:t>
            </a:r>
            <a:endParaRPr lang="en-US" sz="1400" dirty="0"/>
          </a:p>
          <a:p>
            <a:pPr marL="285750" lvl="0" indent="-285750">
              <a:buFont typeface="Arial" pitchFamily="34" charset="0"/>
              <a:buChar char="•"/>
            </a:pPr>
            <a:r>
              <a:rPr lang="en-US" sz="1400" dirty="0"/>
              <a:t>Real estate sales have fluctuated over the years, with notable peaks and dips in certain periods, likely influenced by economic conditions.</a:t>
            </a:r>
          </a:p>
          <a:p>
            <a:pPr marL="285750" lvl="0" indent="-285750">
              <a:buFont typeface="Arial" pitchFamily="34" charset="0"/>
              <a:buChar char="•"/>
            </a:pPr>
            <a:r>
              <a:rPr lang="en-US" sz="1400" dirty="0"/>
              <a:t>Some towns consistently have higher average property prices, while others remain affordable.</a:t>
            </a:r>
          </a:p>
          <a:p>
            <a:pPr marL="285750" lvl="0" indent="-285750">
              <a:buFont typeface="Arial" pitchFamily="34" charset="0"/>
              <a:buChar char="•"/>
            </a:pPr>
            <a:r>
              <a:rPr lang="en-US" sz="1400" dirty="0"/>
              <a:t>Residential properties dominate the market, with single-family homes being the most common type.</a:t>
            </a:r>
          </a:p>
          <a:p>
            <a:pPr marL="285750" lvl="0" indent="-285750">
              <a:buFont typeface="Arial" pitchFamily="34" charset="0"/>
              <a:buChar char="•"/>
            </a:pPr>
            <a:r>
              <a:rPr lang="en-US" sz="1400" dirty="0"/>
              <a:t>The assessed value of properties does not always align with sale prices, indicating potential inaccuracies in property evaluations.</a:t>
            </a:r>
          </a:p>
          <a:p>
            <a:pPr marL="285750" lvl="0" indent="-285750">
              <a:buFont typeface="Arial" pitchFamily="34" charset="0"/>
              <a:buChar char="•"/>
            </a:pPr>
            <a:r>
              <a:rPr lang="en-US" sz="1400" dirty="0"/>
              <a:t>The Sales Ratio varies significantly between towns, suggesting different assessment methodologies or market conditions</a:t>
            </a:r>
            <a:r>
              <a:rPr lang="en-US" sz="1400" dirty="0" smtClean="0"/>
              <a:t>.</a:t>
            </a:r>
            <a:endParaRPr lang="en-US" sz="1400" dirty="0"/>
          </a:p>
        </p:txBody>
      </p:sp>
      <p:sp>
        <p:nvSpPr>
          <p:cNvPr id="7" name="Rectangle 6"/>
          <p:cNvSpPr/>
          <p:nvPr/>
        </p:nvSpPr>
        <p:spPr>
          <a:xfrm>
            <a:off x="360947" y="4953000"/>
            <a:ext cx="8305800" cy="1446550"/>
          </a:xfrm>
          <a:prstGeom prst="rect">
            <a:avLst/>
          </a:prstGeom>
        </p:spPr>
        <p:txBody>
          <a:bodyPr wrap="square">
            <a:spAutoFit/>
          </a:bodyPr>
          <a:lstStyle/>
          <a:p>
            <a:r>
              <a:rPr lang="en-US" b="1" dirty="0" smtClean="0"/>
              <a:t>Conclusion</a:t>
            </a:r>
            <a:endParaRPr lang="en-US" dirty="0" smtClean="0"/>
          </a:p>
          <a:p>
            <a:endParaRPr lang="en-US" sz="1400" dirty="0" smtClean="0"/>
          </a:p>
          <a:p>
            <a:r>
              <a:rPr lang="en-US" sz="1400" dirty="0" smtClean="0"/>
              <a:t>This study provides a comprehensive visual analysis of real estate sales from 2001-2022 using Tableau. We identified trends in sales volume, property pricing, and geographic distributions. The analysis highlights inconsistencies in assessed values and reveals insights into property demand across towns. Future work can integrate economic indicators (inflation, interest rates) to further understand market dynamics.</a:t>
            </a:r>
            <a:endParaRPr lang="en-US" sz="1100" dirty="0"/>
          </a:p>
        </p:txBody>
      </p:sp>
    </p:spTree>
    <p:extLst>
      <p:ext uri="{BB962C8B-B14F-4D97-AF65-F5344CB8AC3E}">
        <p14:creationId xmlns:p14="http://schemas.microsoft.com/office/powerpoint/2010/main" val="161319732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60947" y="2362200"/>
            <a:ext cx="8305800" cy="707886"/>
          </a:xfrm>
          <a:prstGeom prst="rect">
            <a:avLst/>
          </a:prstGeom>
        </p:spPr>
        <p:txBody>
          <a:bodyPr wrap="square">
            <a:spAutoFit/>
          </a:bodyPr>
          <a:lstStyle/>
          <a:p>
            <a:pPr algn="ctr"/>
            <a:r>
              <a:rPr lang="en-US" sz="4000" b="1" dirty="0" smtClean="0"/>
              <a:t>Thank You!</a:t>
            </a:r>
            <a:endParaRPr lang="en-US" sz="4000" dirty="0" smtClean="0"/>
          </a:p>
        </p:txBody>
      </p:sp>
    </p:spTree>
    <p:extLst>
      <p:ext uri="{BB962C8B-B14F-4D97-AF65-F5344CB8AC3E}">
        <p14:creationId xmlns:p14="http://schemas.microsoft.com/office/powerpoint/2010/main" val="297810340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437</TotalTime>
  <Words>1065</Words>
  <Application>Microsoft Office PowerPoint</Application>
  <PresentationFormat>On-screen Show (4:3)</PresentationFormat>
  <Paragraphs>87</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Connecticut Property Sales Dashboard (1999-2023):  A Tableau Visualization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Kumar Saransh</dc:creator>
  <cp:lastModifiedBy>Kumar Saransh</cp:lastModifiedBy>
  <cp:revision>24</cp:revision>
  <dcterms:created xsi:type="dcterms:W3CDTF">2006-08-16T00:00:00Z</dcterms:created>
  <dcterms:modified xsi:type="dcterms:W3CDTF">2025-02-13T03:25:04Z</dcterms:modified>
</cp:coreProperties>
</file>